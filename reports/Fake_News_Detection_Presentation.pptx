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13A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KNN</c:v>
                  </c:pt>
                  <c:pt idx="1">
                    <c:v>Random Forest</c:v>
                  </c:pt>
                  <c:pt idx="2">
                    <c:v>Neural Network</c:v>
                  </c:pt>
                  <c:pt idx="3">
                    <c:v>Logistic Regression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94.56</c:v>
                </c:pt>
                <c:pt idx="1">
                  <c:v>98.01</c:v>
                </c:pt>
                <c:pt idx="2">
                  <c:v>98.17</c:v>
                </c:pt>
                <c:pt idx="3">
                  <c:v>98.36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13A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B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" name="Image 0" descr="assets/newspaper_013A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99121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Fake News Detection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3337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From-Scratch Machine Learning Pipeline for Binary News Classification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 |  AI &amp; ML Summer Internship Program 2026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Computing and Technology (IICT)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Misinformation Outpaces Manual Fact-Checking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assets/chartlin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090" y="24999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37947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articles published daily -- far beyond what human fact-checkers can review.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2F7F6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22860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assets/spee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130" y="249997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709160" y="37947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spreads fastest in the hours right after publication, before fact-checks land.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2F7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2860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assets/balanc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2170" y="249997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458200" y="37947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an imperfect classifier helps direct scarce human review to the content that needs it most.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Pipeline, Built From Scratch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9496" y="2377440"/>
            <a:ext cx="1965960" cy="2103120"/>
          </a:xfrm>
          <a:prstGeom prst="roundRect">
            <a:avLst>
              <a:gd name="adj" fmla="val 5581"/>
            </a:avLst>
          </a:prstGeom>
          <a:solidFill>
            <a:srgbClr val="028090"/>
          </a:solidFill>
          <a:ln/>
        </p:spPr>
      </p:sp>
      <p:pic>
        <p:nvPicPr>
          <p:cNvPr id="5" name="Image 0" descr="asset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" y="26974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" y="3611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32888" y="3291840"/>
            <a:ext cx="265176" cy="274320"/>
          </a:xfrm>
          <a:prstGeom prst="rightArrow">
            <a:avLst/>
          </a:prstGeom>
          <a:solidFill>
            <a:srgbClr val="5A6B6E"/>
          </a:solidFill>
          <a:ln/>
        </p:spPr>
      </p:sp>
      <p:sp>
        <p:nvSpPr>
          <p:cNvPr id="8" name="Shape 5"/>
          <p:cNvSpPr/>
          <p:nvPr/>
        </p:nvSpPr>
        <p:spPr>
          <a:xfrm>
            <a:off x="2825496" y="2377440"/>
            <a:ext cx="1965960" cy="2103120"/>
          </a:xfrm>
          <a:prstGeom prst="roundRect">
            <a:avLst>
              <a:gd name="adj" fmla="val 5581"/>
            </a:avLst>
          </a:prstGeom>
          <a:solidFill>
            <a:srgbClr val="00A896"/>
          </a:solidFill>
          <a:ln/>
        </p:spPr>
      </p:sp>
      <p:pic>
        <p:nvPicPr>
          <p:cNvPr id="9" name="Image 1" descr="assets/broom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996" y="2697480"/>
            <a:ext cx="822960" cy="822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16936" y="3611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818888" y="3291840"/>
            <a:ext cx="265176" cy="274320"/>
          </a:xfrm>
          <a:prstGeom prst="rightArrow">
            <a:avLst/>
          </a:prstGeom>
          <a:solidFill>
            <a:srgbClr val="5A6B6E"/>
          </a:solidFill>
          <a:ln/>
        </p:spPr>
      </p:sp>
      <p:sp>
        <p:nvSpPr>
          <p:cNvPr id="12" name="Shape 8"/>
          <p:cNvSpPr/>
          <p:nvPr/>
        </p:nvSpPr>
        <p:spPr>
          <a:xfrm>
            <a:off x="5111496" y="2377440"/>
            <a:ext cx="1965960" cy="2103120"/>
          </a:xfrm>
          <a:prstGeom prst="roundRect">
            <a:avLst>
              <a:gd name="adj" fmla="val 5581"/>
            </a:avLst>
          </a:prstGeom>
          <a:solidFill>
            <a:srgbClr val="028090"/>
          </a:solidFill>
          <a:ln/>
        </p:spPr>
      </p:sp>
      <p:pic>
        <p:nvPicPr>
          <p:cNvPr id="13" name="Image 2" descr="assets/cog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996" y="2697480"/>
            <a:ext cx="822960" cy="8229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02936" y="3611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104888" y="3291840"/>
            <a:ext cx="265176" cy="274320"/>
          </a:xfrm>
          <a:prstGeom prst="rightArrow">
            <a:avLst/>
          </a:prstGeom>
          <a:solidFill>
            <a:srgbClr val="5A6B6E"/>
          </a:solidFill>
          <a:ln/>
        </p:spPr>
      </p:sp>
      <p:sp>
        <p:nvSpPr>
          <p:cNvPr id="16" name="Shape 11"/>
          <p:cNvSpPr/>
          <p:nvPr/>
        </p:nvSpPr>
        <p:spPr>
          <a:xfrm>
            <a:off x="7397496" y="2377440"/>
            <a:ext cx="1965960" cy="2103120"/>
          </a:xfrm>
          <a:prstGeom prst="roundRect">
            <a:avLst>
              <a:gd name="adj" fmla="val 5581"/>
            </a:avLst>
          </a:prstGeom>
          <a:solidFill>
            <a:srgbClr val="00A896"/>
          </a:solidFill>
          <a:ln/>
        </p:spPr>
      </p:sp>
      <p:pic>
        <p:nvPicPr>
          <p:cNvPr id="17" name="Image 3" descr="assets/brai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996" y="2697480"/>
            <a:ext cx="822960" cy="8229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88936" y="3611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9390888" y="3291840"/>
            <a:ext cx="265176" cy="274320"/>
          </a:xfrm>
          <a:prstGeom prst="rightArrow">
            <a:avLst/>
          </a:prstGeom>
          <a:solidFill>
            <a:srgbClr val="5A6B6E"/>
          </a:solidFill>
          <a:ln/>
        </p:spPr>
      </p:sp>
      <p:sp>
        <p:nvSpPr>
          <p:cNvPr id="20" name="Shape 14"/>
          <p:cNvSpPr/>
          <p:nvPr/>
        </p:nvSpPr>
        <p:spPr>
          <a:xfrm>
            <a:off x="9683496" y="2377440"/>
            <a:ext cx="1965960" cy="2103120"/>
          </a:xfrm>
          <a:prstGeom prst="roundRect">
            <a:avLst>
              <a:gd name="adj" fmla="val 5581"/>
            </a:avLst>
          </a:prstGeom>
          <a:solidFill>
            <a:srgbClr val="028090"/>
          </a:solidFill>
          <a:ln/>
        </p:spPr>
      </p:sp>
      <p:pic>
        <p:nvPicPr>
          <p:cNvPr id="21" name="Image 4" descr="assets/chartlin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4996" y="2697480"/>
            <a:ext cx="822960" cy="8229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774936" y="36118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097280" y="48463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pre-built vectorizers or end-to-end libraries -- tokenization, Bag-of-Words, and TF-IDF are all implemented from their mathematical definitions.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38,604 Articles, After Careful Cleaning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2F7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44,898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articles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(Fake + Real)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96596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2F7F6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6,434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66160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removed: corrupted,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empty, or duplicate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2F7F6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38,604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55080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196596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2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9098280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54.9 / 45.1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44000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 Fake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split</a:t>
            </a:r>
            <a:endParaRPr lang="en-US" sz="1200" dirty="0"/>
          </a:p>
        </p:txBody>
      </p:sp>
      <p:pic>
        <p:nvPicPr>
          <p:cNvPr id="16" name="Image 0" descr="reports/figures/01_class_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4023360"/>
            <a:ext cx="3017520" cy="25146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Fake and Real News Dataset (clmentbisaillon)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FINDING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Leakage Traps -- Caught Before They Mattered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120640" cy="3200400"/>
          </a:xfrm>
          <a:prstGeom prst="roundRect">
            <a:avLst>
              <a:gd name="adj" fmla="val 3429"/>
            </a:avLst>
          </a:prstGeom>
          <a:solidFill>
            <a:srgbClr val="024E58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246888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assets/warning_013A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802" y="26709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4747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“Subject” Category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88720" y="39776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and Real articles used completely separate subject tags with zero overlap -- a model could hit ~100% accuracy without reading a single word.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0" y="2103120"/>
            <a:ext cx="5120640" cy="3200400"/>
          </a:xfrm>
          <a:prstGeom prst="roundRect">
            <a:avLst>
              <a:gd name="adj" fmla="val 3429"/>
            </a:avLst>
          </a:prstGeom>
          <a:solidFill>
            <a:srgbClr val="024E58"/>
          </a:solidFill>
          <a:ln/>
        </p:spPr>
      </p:sp>
      <p:sp>
        <p:nvSpPr>
          <p:cNvPr id="10" name="Shape 7"/>
          <p:cNvSpPr/>
          <p:nvPr/>
        </p:nvSpPr>
        <p:spPr>
          <a:xfrm>
            <a:off x="6766560" y="246888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assets/warning_013A4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642" y="26709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66560" y="34747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Reuters Dateline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766560" y="39776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 of Real articles opened with a wire-service dateline (“WASHINGTON (Reuters) - ”). Left in, the model would key off source formatting, not content.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22960" y="5577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were identified during EDA and corrected before modeling began.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Feature Representations, Built From Scratch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65960"/>
            <a:ext cx="3383280" cy="502920"/>
          </a:xfrm>
          <a:prstGeom prst="roundRect">
            <a:avLst>
              <a:gd name="adj" fmla="val 21818"/>
            </a:avLst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21992"/>
            <a:ext cx="3383280" cy="2468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Bag-of-Words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5,000-word vocabulary.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word counts per document.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· 5,000 dims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2F7F6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1965960"/>
            <a:ext cx="3383280" cy="502920"/>
          </a:xfrm>
          <a:prstGeom prst="roundRect">
            <a:avLst>
              <a:gd name="adj" fmla="val 21818"/>
            </a:avLst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221992"/>
            <a:ext cx="3383280" cy="2468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965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Length-normalized term frequency × smoothed inverse document frequency, L2-normalized.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1772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· 5,000 dims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9659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2F7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0" y="1965960"/>
            <a:ext cx="3383280" cy="502920"/>
          </a:xfrm>
          <a:prstGeom prst="roundRect">
            <a:avLst>
              <a:gd name="adj" fmla="val 21818"/>
            </a:avLst>
          </a:prstGeom>
          <a:solidFill>
            <a:srgbClr val="00A896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2221992"/>
            <a:ext cx="3383280" cy="2468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1965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Word2Vec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6676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Skip-gram embeddings trained on the corpus. Documents = averaged word vectors.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6676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· 100 dims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Models, Four Modeling Philosophies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65376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asset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067458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7647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40680" y="1801368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5440680" y="18013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498080" y="17647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by majority vote among the k closest training points.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2944368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assets/balanc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" y="3146450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28437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440680" y="28803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4" name="Text 10"/>
          <p:cNvSpPr/>
          <p:nvPr/>
        </p:nvSpPr>
        <p:spPr>
          <a:xfrm>
            <a:off x="544068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498080" y="284378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fixed set of weights defining a linear decision boundary.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31520" y="40233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assets/diagram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" y="4225442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39227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5440680" y="395935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0" name="Text 15"/>
          <p:cNvSpPr/>
          <p:nvPr/>
        </p:nvSpPr>
        <p:spPr>
          <a:xfrm>
            <a:off x="5440680" y="3959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498080" y="392277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many decision trees trained on bootstrapped samples.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31520" y="5102352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assets/brai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" y="5304434"/>
            <a:ext cx="373075" cy="37307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37360" y="5001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5440680" y="5038344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6" name="Text 20"/>
          <p:cNvSpPr/>
          <p:nvPr/>
        </p:nvSpPr>
        <p:spPr>
          <a:xfrm>
            <a:off x="5440680" y="50383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498080" y="50017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 network with dropout regularization and early stopping.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Leads -- By a Fine Margin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828800"/>
          <a:ext cx="7498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595360" y="2103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Feature Set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595360" y="23957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 (3 of 4 models)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9536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ROC AUC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95360" y="33558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0.9985 (Logistic Regression)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95360" y="4023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95360" y="4315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models: std dev &lt; 0.3%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Choice Swung KNN's Accuracy by 12 Points</a:t>
            </a:r>
            <a:endParaRPr lang="en-US" sz="3000" dirty="0"/>
          </a:p>
        </p:txBody>
      </p:sp>
      <p:pic>
        <p:nvPicPr>
          <p:cNvPr id="4" name="Image 0" descr="reports/figures/09_model_feature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85216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920240"/>
            <a:ext cx="4572000" cy="3566160"/>
          </a:xfrm>
          <a:prstGeom prst="roundRect">
            <a:avLst>
              <a:gd name="adj" fmla="val 3077"/>
            </a:avLst>
          </a:prstGeom>
          <a:solidFill>
            <a:srgbClr val="F2F7F6"/>
          </a:solidFill>
          <a:ln/>
        </p:spPr>
      </p:sp>
      <p:sp>
        <p:nvSpPr>
          <p:cNvPr id="6" name="Shape 3"/>
          <p:cNvSpPr/>
          <p:nvPr/>
        </p:nvSpPr>
        <p:spPr>
          <a:xfrm>
            <a:off x="7269480" y="21945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1" descr="assets/warnin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901" y="2360981"/>
            <a:ext cx="307238" cy="3072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9244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Curse of Dimensionality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269480" y="301752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scored just 82.2% on 5,000-dim TF-IDF, but 94.6% on 100-dim Word2Vec embeddings -- the same algorithm, only the feature space changed.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269480" y="43434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high-dimensional sparse spaces, distances between points become nearly uniform -- “nearest neighbor” stops being meaningful.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Complexity Didn't Mean More Accuracy</a:t>
            </a:r>
            <a:endParaRPr lang="en-US" sz="3000" dirty="0"/>
          </a:p>
        </p:txBody>
      </p:sp>
      <p:pic>
        <p:nvPicPr>
          <p:cNvPr id="4" name="Image 0" descr="reports/figures/11_training_time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9436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2103120"/>
            <a:ext cx="4572000" cy="1051560"/>
          </a:xfrm>
          <a:prstGeom prst="roundRect">
            <a:avLst>
              <a:gd name="adj" fmla="val 8696"/>
            </a:avLst>
          </a:prstGeom>
          <a:solidFill>
            <a:srgbClr val="024E58"/>
          </a:solidFill>
          <a:ln/>
        </p:spPr>
      </p:sp>
      <p:sp>
        <p:nvSpPr>
          <p:cNvPr id="6" name="Text 3"/>
          <p:cNvSpPr/>
          <p:nvPr/>
        </p:nvSpPr>
        <p:spPr>
          <a:xfrm>
            <a:off x="7178040" y="22128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869680" y="221284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49440" y="3337560"/>
            <a:ext cx="4572000" cy="1051560"/>
          </a:xfrm>
          <a:prstGeom prst="roundRect">
            <a:avLst>
              <a:gd name="adj" fmla="val 8696"/>
            </a:avLst>
          </a:prstGeom>
          <a:solidFill>
            <a:srgbClr val="024E58"/>
          </a:solidFill>
          <a:ln/>
        </p:spPr>
      </p:sp>
      <p:sp>
        <p:nvSpPr>
          <p:cNvPr id="9" name="Text 6"/>
          <p:cNvSpPr/>
          <p:nvPr/>
        </p:nvSpPr>
        <p:spPr>
          <a:xfrm>
            <a:off x="7178040" y="34472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~120s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869680" y="344728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949440" y="4572000"/>
            <a:ext cx="4572000" cy="1051560"/>
          </a:xfrm>
          <a:prstGeom prst="roundRect">
            <a:avLst>
              <a:gd name="adj" fmla="val 8696"/>
            </a:avLst>
          </a:prstGeom>
          <a:solidFill>
            <a:srgbClr val="024E58"/>
          </a:solidFill>
          <a:ln/>
        </p:spPr>
      </p:sp>
      <p:sp>
        <p:nvSpPr>
          <p:cNvPr id="12" name="Text 9"/>
          <p:cNvSpPr/>
          <p:nvPr/>
        </p:nvSpPr>
        <p:spPr>
          <a:xfrm>
            <a:off x="7178040" y="468172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0.35%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869680" y="468172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gap between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models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Models Discriminate Well -- KNN Trails Modestly</a:t>
            </a:r>
            <a:endParaRPr lang="en-US" sz="3000" dirty="0"/>
          </a:p>
        </p:txBody>
      </p:sp>
      <p:pic>
        <p:nvPicPr>
          <p:cNvPr id="4" name="Image 0" descr="reports/figures/07_roc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394960" cy="4709160"/>
          </a:xfrm>
          <a:prstGeom prst="rect">
            <a:avLst/>
          </a:prstGeom>
        </p:spPr>
      </p:pic>
      <p:pic>
        <p:nvPicPr>
          <p:cNvPr id="5" name="Image 1" descr="reports/figures/08_precision_recall_cur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5394960" cy="4709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vs. Substance: A Necessary Caveat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024E58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19456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predictive words: via, pic, featured, getty, image (Fake)  ·  reporters, citing, weekday names (Real)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8720" y="365760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formatting and sourcing conventions -- not claims about factual accuracy.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448056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F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~98% accuracy reflects strong performance at detecting this dataset's stylistic signature of Real vs. Fake --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CF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narrower, more honest claim than “detecting fake news” in general.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asset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0409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8288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representation matters more than model choice for distance-based methods.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29260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assets/spee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092501"/>
            <a:ext cx="307238" cy="3072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8803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complexity did not translate to better accuracy on this task.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31520" y="3977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2" descr="assets/warn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144061"/>
            <a:ext cx="307238" cy="3072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45920" y="3931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metadata can silently solve a task without genuine content understanding.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731520" y="50292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3" descr="assets/lightbulb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195621"/>
            <a:ext cx="307238" cy="30723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45920" y="49834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learns is narrower than general-purpose fake news detection.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Project Could Go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0200" y="1993392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generalization on an independent, more recent fake-news dataset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953512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Word2Vec on a larger corpus to test if the gap with TF-IDF closes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3931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3913632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non-leaking metadata features as a secondary experiment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22960" y="4892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4873752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a sequence-based architecture (LSTM / attention) for richer context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92024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" name="Image 0" descr="assets/rocket_013A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3074" y="2181758"/>
            <a:ext cx="482803" cy="482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004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402336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 ·  AI &amp; ML Summer Internship Program 2026  ·  IICT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2026-07-23T07:49:17Z</dcterms:created>
  <dcterms:modified xsi:type="dcterms:W3CDTF">2026-07-23T07:49:17Z</dcterms:modified>
</cp:coreProperties>
</file>